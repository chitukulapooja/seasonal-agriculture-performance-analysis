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6"/>
  </p:notesMasterIdLst>
  <p:handoutMasterIdLst>
    <p:handoutMasterId r:id="rId27"/>
  </p:handoutMasterIdLst>
  <p:sldIdLst>
    <p:sldId id="338" r:id="rId5"/>
    <p:sldId id="327" r:id="rId6"/>
    <p:sldId id="315" r:id="rId7"/>
    <p:sldId id="329" r:id="rId8"/>
    <p:sldId id="302" r:id="rId9"/>
    <p:sldId id="339" r:id="rId10"/>
    <p:sldId id="350" r:id="rId11"/>
    <p:sldId id="349" r:id="rId12"/>
    <p:sldId id="348" r:id="rId13"/>
    <p:sldId id="351" r:id="rId14"/>
    <p:sldId id="352" r:id="rId15"/>
    <p:sldId id="353" r:id="rId16"/>
    <p:sldId id="354" r:id="rId17"/>
    <p:sldId id="355" r:id="rId18"/>
    <p:sldId id="356" r:id="rId19"/>
    <p:sldId id="357" r:id="rId20"/>
    <p:sldId id="347" r:id="rId21"/>
    <p:sldId id="341" r:id="rId22"/>
    <p:sldId id="342" r:id="rId23"/>
    <p:sldId id="343" r:id="rId24"/>
    <p:sldId id="30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25214" autoAdjust="0"/>
  </p:normalViewPr>
  <p:slideViewPr>
    <p:cSldViewPr snapToGrid="0">
      <p:cViewPr>
        <p:scale>
          <a:sx n="66" d="100"/>
          <a:sy n="66" d="100"/>
        </p:scale>
        <p:origin x="-1234" y="-538"/>
      </p:cViewPr>
      <p:guideLst>
        <p:guide orient="horz" pos="1968"/>
        <p:guide orient="horz" pos="3912"/>
        <p:guide orient="horz" pos="1656"/>
        <p:guide pos="408"/>
        <p:guide pos="7272"/>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20227"/>
    </p:cViewPr>
  </p:sorterViewPr>
  <p:notesViewPr>
    <p:cSldViewPr snapToGrid="0">
      <p:cViewPr varScale="1">
        <p:scale>
          <a:sx n="66" d="100"/>
          <a:sy n="66" d="100"/>
        </p:scale>
        <p:origin x="-3187"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530193B-564F-4854-8A52-728F3FB19C85}" type="slidenum">
              <a:rPr lang="en-US" noProof="0" smtClean="0"/>
              <a:t>1</a:t>
            </a:fld>
            <a:endParaRPr lang="en-US" noProof="0" dirty="0"/>
          </a:p>
        </p:txBody>
      </p:sp>
    </p:spTree>
    <p:extLst>
      <p:ext uri="{BB962C8B-B14F-4D97-AF65-F5344CB8AC3E}">
        <p14:creationId xmlns:p14="http://schemas.microsoft.com/office/powerpoint/2010/main" val="32897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530193B-564F-4854-8A52-728F3FB19C85}" type="slidenum">
              <a:rPr lang="en-US" noProof="0" smtClean="0"/>
              <a:t>7</a:t>
            </a:fld>
            <a:endParaRPr lang="en-US" noProof="0" dirty="0"/>
          </a:p>
        </p:txBody>
      </p:sp>
    </p:spTree>
    <p:extLst>
      <p:ext uri="{BB962C8B-B14F-4D97-AF65-F5344CB8AC3E}">
        <p14:creationId xmlns:p14="http://schemas.microsoft.com/office/powerpoint/2010/main" val="4085289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chitukulapooja/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782684" y="3517411"/>
            <a:ext cx="10331433" cy="1412036"/>
          </a:xfrm>
        </p:spPr>
        <p:txBody>
          <a:bodyPr vert="horz" lIns="91440" tIns="45720" rIns="91440" bIns="45720" rtlCol="0" anchor="t">
            <a:normAutofit/>
          </a:bodyPr>
          <a:lstStyle/>
          <a:p>
            <a:r>
              <a:rPr lang="en-US" dirty="0" smtClean="0">
                <a:solidFill>
                  <a:schemeClr val="tx1"/>
                </a:solidFill>
              </a:rPr>
              <a:t>Student </a:t>
            </a:r>
            <a:r>
              <a:rPr lang="en-US" dirty="0">
                <a:solidFill>
                  <a:schemeClr val="tx1"/>
                </a:solidFill>
              </a:rPr>
              <a:t>Name </a:t>
            </a:r>
            <a:r>
              <a:rPr lang="en-US" b="0" dirty="0">
                <a:solidFill>
                  <a:schemeClr val="tx1"/>
                </a:solidFill>
              </a:rPr>
              <a:t>- </a:t>
            </a:r>
            <a:r>
              <a:rPr lang="en-US" b="0" dirty="0" err="1">
                <a:solidFill>
                  <a:schemeClr val="tx1"/>
                </a:solidFill>
              </a:rPr>
              <a:t>Chitukula</a:t>
            </a:r>
            <a:r>
              <a:rPr lang="en-US" b="0" dirty="0">
                <a:solidFill>
                  <a:schemeClr val="tx1"/>
                </a:solidFill>
              </a:rPr>
              <a:t> Pooja Reddy </a:t>
            </a:r>
            <a:endParaRPr lang="en-IN" b="0" dirty="0">
              <a:solidFill>
                <a:schemeClr val="tx1"/>
              </a:solidFill>
            </a:endParaRPr>
          </a:p>
          <a:p>
            <a:r>
              <a:rPr lang="en-US" dirty="0">
                <a:solidFill>
                  <a:schemeClr val="tx1"/>
                </a:solidFill>
              </a:rPr>
              <a:t>College </a:t>
            </a:r>
            <a:r>
              <a:rPr lang="en-US" dirty="0" smtClean="0">
                <a:solidFill>
                  <a:schemeClr val="tx1"/>
                </a:solidFill>
              </a:rPr>
              <a:t>Name </a:t>
            </a:r>
            <a:r>
              <a:rPr lang="en-US" b="0" dirty="0">
                <a:solidFill>
                  <a:schemeClr val="tx1"/>
                </a:solidFill>
              </a:rPr>
              <a:t>- </a:t>
            </a:r>
            <a:r>
              <a:rPr lang="en-US" b="0" dirty="0" err="1">
                <a:solidFill>
                  <a:schemeClr val="tx1"/>
                </a:solidFill>
              </a:rPr>
              <a:t>Malla</a:t>
            </a:r>
            <a:r>
              <a:rPr lang="en-US" b="0" dirty="0">
                <a:solidFill>
                  <a:schemeClr val="tx1"/>
                </a:solidFill>
              </a:rPr>
              <a:t> Reddy Engineering College for </a:t>
            </a:r>
            <a:r>
              <a:rPr lang="en-US" b="0" dirty="0" smtClean="0">
                <a:solidFill>
                  <a:schemeClr val="tx1"/>
                </a:solidFill>
              </a:rPr>
              <a:t>Women</a:t>
            </a:r>
          </a:p>
          <a:p>
            <a:r>
              <a:rPr lang="en-US" dirty="0">
                <a:solidFill>
                  <a:schemeClr val="tx1"/>
                </a:solidFill>
              </a:rPr>
              <a:t>AICTE STU ID : </a:t>
            </a:r>
            <a:r>
              <a:rPr lang="en-US" b="0" dirty="0">
                <a:solidFill>
                  <a:schemeClr val="tx1"/>
                </a:solidFill>
              </a:rPr>
              <a:t>STU67d934607f1771742287968</a:t>
            </a:r>
          </a:p>
          <a:p>
            <a:endParaRPr lang="en-US" b="0" dirty="0" smtClean="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3" y="2844750"/>
            <a:ext cx="10643571" cy="743448"/>
          </a:xfrm>
        </p:spPr>
        <p:txBody>
          <a:bodyPr>
            <a:normAutofit fontScale="90000"/>
          </a:bodyPr>
          <a:lstStyle/>
          <a:p>
            <a:r>
              <a:rPr lang="en-GB" sz="3200" b="1" dirty="0"/>
              <a:t>Project Title -  Seasonal Agriculture Performance Analysis</a:t>
            </a:r>
            <a:endParaRPr lang="en-IN" sz="3200" b="1"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79" y="1875556"/>
            <a:ext cx="6651105" cy="4151171"/>
          </a:xfrm>
        </p:spPr>
        <p:txBody>
          <a:bodyPr vert="horz" lIns="91440" tIns="45720" rIns="91440" bIns="45720" rtlCol="0" anchor="t">
            <a:normAutofit fontScale="55000" lnSpcReduction="20000"/>
          </a:bodyPr>
          <a:lstStyle/>
          <a:p>
            <a:pPr algn="just">
              <a:lnSpc>
                <a:spcPct val="150000"/>
              </a:lnSpc>
            </a:pPr>
            <a:r>
              <a:rPr lang="en-US" sz="2800" dirty="0"/>
              <a:t>Agricultural activities are influenced by seasonal variations in environmental conditions, farming practices, resource availability and market conditions. As a result, agricultural performance may differ from one season to another. </a:t>
            </a:r>
            <a:endParaRPr lang="en-US" sz="2800" dirty="0" smtClean="0"/>
          </a:p>
          <a:p>
            <a:pPr algn="just">
              <a:lnSpc>
                <a:spcPct val="150000"/>
              </a:lnSpc>
            </a:pPr>
            <a:r>
              <a:rPr lang="en-US" sz="2800" dirty="0" smtClean="0"/>
              <a:t>However</a:t>
            </a:r>
            <a:r>
              <a:rPr lang="en-US" sz="2800" dirty="0"/>
              <a:t>, raw agricultural data does not clearly explain how agricultural performance changes across seasons or what patterns can be observed in different seasonal conditions. </a:t>
            </a:r>
            <a:endParaRPr lang="en-US" sz="2800" dirty="0" smtClean="0"/>
          </a:p>
          <a:p>
            <a:pPr algn="just">
              <a:lnSpc>
                <a:spcPct val="150000"/>
              </a:lnSpc>
            </a:pPr>
            <a:r>
              <a:rPr lang="en-US" sz="2800" dirty="0" smtClean="0"/>
              <a:t>The </a:t>
            </a:r>
            <a:r>
              <a:rPr lang="en-US" sz="2800" dirty="0"/>
              <a:t>problem is to analyze the given agricultural dataset and investigate seasonal differences in agricultural performance by identifying meaningful patterns, trends, relationships and variations within the </a:t>
            </a:r>
            <a:r>
              <a:rPr lang="en-US" sz="2800" dirty="0" smtClean="0"/>
              <a:t>available </a:t>
            </a:r>
            <a:r>
              <a:rPr lang="en-US" sz="2800" dirty="0"/>
              <a:t>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a:bodyPr>
          <a:lstStyle/>
          <a:p>
            <a:r>
              <a:rPr lang="en-GB" sz="4000" dirty="0"/>
              <a:t>Project </a:t>
            </a:r>
            <a:r>
              <a:rPr lang="en-GB" sz="4000" dirty="0" smtClean="0"/>
              <a:t>Description</a:t>
            </a:r>
            <a:endParaRPr lang="en-IN" sz="400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p:cNvSpPr/>
          <p:nvPr/>
        </p:nvSpPr>
        <p:spPr>
          <a:xfrm>
            <a:off x="675957" y="1820488"/>
            <a:ext cx="8251912" cy="3901068"/>
          </a:xfrm>
          <a:prstGeom prst="rect">
            <a:avLst/>
          </a:prstGeom>
        </p:spPr>
        <p:txBody>
          <a:bodyPr wrap="square">
            <a:spAutoFit/>
          </a:bodyPr>
          <a:lstStyle/>
          <a:p>
            <a:pPr algn="just">
              <a:lnSpc>
                <a:spcPct val="150000"/>
              </a:lnSpc>
            </a:pPr>
            <a:r>
              <a:rPr lang="en-US" sz="1500" dirty="0" smtClean="0"/>
              <a:t>The </a:t>
            </a:r>
            <a:r>
              <a:rPr lang="en-US" sz="1500" dirty="0"/>
              <a:t>project is about analyzing agricultural data to understand how farming performance changes with different seasons, crops, and states. We used a dataset that contains details like rainfall, temperature, soil conditions, irrigation, fertilizer usage, crop yield, production, cost, revenue, profit, water usage, and disease or pest risk</a:t>
            </a:r>
            <a:r>
              <a:rPr lang="en-US" sz="1500" dirty="0" smtClean="0"/>
              <a:t>.</a:t>
            </a:r>
            <a:endParaRPr lang="en-US" sz="1500" dirty="0"/>
          </a:p>
          <a:p>
            <a:pPr algn="just">
              <a:lnSpc>
                <a:spcPct val="150000"/>
              </a:lnSpc>
            </a:pPr>
            <a:r>
              <a:rPr lang="en-US" sz="1500" dirty="0"/>
              <a:t>The main aim of our project is to find useful patterns in the data and understand which factors are related to better agricultural performance. We first cleaned the data and checked for missing values and duplicate records. Then we used statistical analysis and different graphs such as bar charts, histograms, boxplots, scatter plots, and a correlation </a:t>
            </a:r>
            <a:r>
              <a:rPr lang="en-US" sz="1500" dirty="0" err="1"/>
              <a:t>heatmap</a:t>
            </a:r>
            <a:r>
              <a:rPr lang="en-US" sz="1500" dirty="0"/>
              <a:t> to study the data</a:t>
            </a:r>
            <a:r>
              <a:rPr lang="en-US" sz="1500" dirty="0" smtClean="0"/>
              <a:t>.</a:t>
            </a:r>
            <a:endParaRPr lang="en-US" sz="1500" dirty="0"/>
          </a:p>
          <a:p>
            <a:pPr algn="just">
              <a:lnSpc>
                <a:spcPct val="150000"/>
              </a:lnSpc>
            </a:pPr>
            <a:r>
              <a:rPr lang="en-US" sz="1500" dirty="0" smtClean="0"/>
              <a:t>Overall</a:t>
            </a:r>
            <a:r>
              <a:rPr lang="en-US" sz="1500" dirty="0"/>
              <a:t>, this project helped us understand the agricultural dataset better and use data analysis to find meaningful </a:t>
            </a:r>
            <a:r>
              <a:rPr lang="en-US" sz="1500" dirty="0" smtClean="0"/>
              <a:t>results.</a:t>
            </a:r>
            <a:endParaRPr lang="en-US" sz="15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Autofit/>
          </a:bodyPr>
          <a:lstStyle/>
          <a:p>
            <a:pPr algn="just"/>
            <a:r>
              <a:rPr lang="en-US" sz="1600" dirty="0"/>
              <a:t>The main end users of this project are:</a:t>
            </a:r>
          </a:p>
          <a:p>
            <a:pPr algn="just"/>
            <a:r>
              <a:rPr lang="en-US" sz="1600" b="1" dirty="0"/>
              <a:t>Farmers</a:t>
            </a:r>
            <a:r>
              <a:rPr lang="en-US" sz="1600" dirty="0"/>
              <a:t> – to understand which seasons and crops show better performance. </a:t>
            </a:r>
          </a:p>
          <a:p>
            <a:pPr algn="just"/>
            <a:r>
              <a:rPr lang="en-US" sz="1600" b="1" dirty="0"/>
              <a:t>Agricultural planners</a:t>
            </a:r>
            <a:r>
              <a:rPr lang="en-US" sz="1600" dirty="0"/>
              <a:t> – to use the results for seasonal farming planning. </a:t>
            </a:r>
          </a:p>
          <a:p>
            <a:pPr algn="just"/>
            <a:r>
              <a:rPr lang="en-US" sz="1600" b="1" dirty="0"/>
              <a:t>Agriculture officers</a:t>
            </a:r>
            <a:r>
              <a:rPr lang="en-US" sz="1600" dirty="0"/>
              <a:t> – to compare agricultural performance across different regions. </a:t>
            </a:r>
          </a:p>
          <a:p>
            <a:pPr algn="just"/>
            <a:r>
              <a:rPr lang="en-US" sz="1600" b="1" dirty="0"/>
              <a:t>Researchers and students</a:t>
            </a:r>
            <a:r>
              <a:rPr lang="en-US" sz="1600" dirty="0"/>
              <a:t> – to study patterns and relationships in agricultural data. </a:t>
            </a:r>
          </a:p>
          <a:p>
            <a:pPr algn="just"/>
            <a:r>
              <a:rPr lang="en-US" sz="1600" b="1" dirty="0"/>
              <a:t>Decision makers</a:t>
            </a:r>
            <a:r>
              <a:rPr lang="en-US" sz="1600" dirty="0"/>
              <a:t> – to use the analysis as supporting information for agricultural decisions.</a:t>
            </a:r>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1113825" y="1315059"/>
            <a:ext cx="9027702" cy="5243448"/>
          </a:xfrm>
        </p:spPr>
        <p:txBody>
          <a:bodyPr>
            <a:normAutofit/>
          </a:bodyPr>
          <a:lstStyle/>
          <a:p>
            <a:r>
              <a:rPr lang="en-US" sz="1600" dirty="0" smtClean="0"/>
              <a:t>Python </a:t>
            </a:r>
          </a:p>
          <a:p>
            <a:r>
              <a:rPr lang="en-US" sz="1600" dirty="0" smtClean="0"/>
              <a:t>Pandas </a:t>
            </a:r>
          </a:p>
          <a:p>
            <a:r>
              <a:rPr lang="en-US" sz="1600" dirty="0" err="1" smtClean="0"/>
              <a:t>NumPy</a:t>
            </a:r>
            <a:r>
              <a:rPr lang="en-US" sz="1600" dirty="0" smtClean="0"/>
              <a:t> </a:t>
            </a:r>
          </a:p>
          <a:p>
            <a:r>
              <a:rPr lang="en-US" sz="1600" dirty="0" err="1" smtClean="0"/>
              <a:t>Matplotlib</a:t>
            </a:r>
            <a:r>
              <a:rPr lang="en-US" sz="1600" dirty="0" smtClean="0"/>
              <a:t> </a:t>
            </a:r>
          </a:p>
          <a:p>
            <a:r>
              <a:rPr lang="en-US" sz="1600" dirty="0" err="1" smtClean="0"/>
              <a:t>Seaborn</a:t>
            </a:r>
            <a:r>
              <a:rPr lang="en-US" sz="1600" dirty="0" smtClean="0"/>
              <a:t> </a:t>
            </a:r>
          </a:p>
          <a:p>
            <a:r>
              <a:rPr lang="en-US" sz="1600" dirty="0" smtClean="0"/>
              <a:t>Google </a:t>
            </a:r>
            <a:r>
              <a:rPr lang="en-US" sz="1600" dirty="0" err="1" smtClean="0"/>
              <a:t>Colab</a:t>
            </a:r>
            <a:endParaRPr lang="en-IN" sz="1600"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12674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8289" y="821802"/>
            <a:ext cx="7202170" cy="5350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260286" y="6315489"/>
            <a:ext cx="4428969" cy="369332"/>
          </a:xfrm>
          <a:prstGeom prst="rect">
            <a:avLst/>
          </a:prstGeom>
        </p:spPr>
        <p:txBody>
          <a:bodyPr wrap="none">
            <a:spAutoFit/>
          </a:bodyPr>
          <a:lstStyle/>
          <a:p>
            <a:r>
              <a:rPr lang="en-US" dirty="0"/>
              <a:t>Missing Values in the Agricultural Dataset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957" y="1275371"/>
            <a:ext cx="5322430" cy="5125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7158" y="1275370"/>
            <a:ext cx="5030307" cy="5013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437158" y="6330165"/>
            <a:ext cx="5320687" cy="369332"/>
          </a:xfrm>
          <a:prstGeom prst="rect">
            <a:avLst/>
          </a:prstGeom>
        </p:spPr>
        <p:txBody>
          <a:bodyPr wrap="none">
            <a:spAutoFit/>
          </a:bodyPr>
          <a:lstStyle/>
          <a:p>
            <a:r>
              <a:rPr lang="en-US" dirty="0"/>
              <a:t>Distribution of agricultural records across seasons</a:t>
            </a:r>
          </a:p>
        </p:txBody>
      </p:sp>
      <p:sp>
        <p:nvSpPr>
          <p:cNvPr id="3" name="Rectangle 2"/>
          <p:cNvSpPr/>
          <p:nvPr/>
        </p:nvSpPr>
        <p:spPr>
          <a:xfrm>
            <a:off x="1286738" y="6383774"/>
            <a:ext cx="3621761" cy="369332"/>
          </a:xfrm>
          <a:prstGeom prst="rect">
            <a:avLst/>
          </a:prstGeom>
        </p:spPr>
        <p:txBody>
          <a:bodyPr wrap="none">
            <a:spAutoFit/>
          </a:bodyPr>
          <a:lstStyle/>
          <a:p>
            <a:r>
              <a:rPr lang="en-US" dirty="0"/>
              <a:t>Distribution of Records by Season</a:t>
            </a:r>
          </a:p>
        </p:txBody>
      </p:sp>
    </p:spTree>
    <p:extLst>
      <p:ext uri="{BB962C8B-B14F-4D97-AF65-F5344CB8AC3E}">
        <p14:creationId xmlns:p14="http://schemas.microsoft.com/office/powerpoint/2010/main" val="214013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658" y="1608410"/>
            <a:ext cx="5082816" cy="4157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28" y="1625663"/>
            <a:ext cx="5010896" cy="4361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35188" y="6199108"/>
            <a:ext cx="2484976" cy="369332"/>
          </a:xfrm>
          <a:prstGeom prst="rect">
            <a:avLst/>
          </a:prstGeom>
        </p:spPr>
        <p:txBody>
          <a:bodyPr wrap="none">
            <a:spAutoFit/>
          </a:bodyPr>
          <a:lstStyle/>
          <a:p>
            <a:r>
              <a:rPr lang="en-IN" dirty="0" smtClean="0"/>
              <a:t>Distribution of rainfall</a:t>
            </a:r>
            <a:endParaRPr lang="en-IN" dirty="0"/>
          </a:p>
        </p:txBody>
      </p:sp>
      <p:sp>
        <p:nvSpPr>
          <p:cNvPr id="3" name="Rectangle 2"/>
          <p:cNvSpPr/>
          <p:nvPr/>
        </p:nvSpPr>
        <p:spPr>
          <a:xfrm>
            <a:off x="1066592" y="6034303"/>
            <a:ext cx="4818948" cy="369332"/>
          </a:xfrm>
          <a:prstGeom prst="rect">
            <a:avLst/>
          </a:prstGeom>
        </p:spPr>
        <p:txBody>
          <a:bodyPr wrap="none">
            <a:spAutoFit/>
          </a:bodyPr>
          <a:lstStyle/>
          <a:p>
            <a:r>
              <a:rPr lang="en-US" dirty="0"/>
              <a:t>Distribution of records across different crops</a:t>
            </a:r>
          </a:p>
        </p:txBody>
      </p:sp>
    </p:spTree>
    <p:extLst>
      <p:ext uri="{BB962C8B-B14F-4D97-AF65-F5344CB8AC3E}">
        <p14:creationId xmlns:p14="http://schemas.microsoft.com/office/powerpoint/2010/main" val="378757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 y="1608410"/>
            <a:ext cx="5039606" cy="412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5685" y="1608410"/>
            <a:ext cx="5192950" cy="412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350118" y="6164980"/>
            <a:ext cx="1804084" cy="369332"/>
          </a:xfrm>
          <a:prstGeom prst="rect">
            <a:avLst/>
          </a:prstGeom>
        </p:spPr>
        <p:txBody>
          <a:bodyPr wrap="none">
            <a:spAutoFit/>
          </a:bodyPr>
          <a:lstStyle/>
          <a:p>
            <a:r>
              <a:rPr lang="en-IN" dirty="0"/>
              <a:t>Season </a:t>
            </a:r>
            <a:r>
              <a:rPr lang="en-IN" dirty="0" err="1"/>
              <a:t>vs</a:t>
            </a:r>
            <a:r>
              <a:rPr lang="en-IN" dirty="0"/>
              <a:t> Profit</a:t>
            </a:r>
          </a:p>
        </p:txBody>
      </p:sp>
      <p:sp>
        <p:nvSpPr>
          <p:cNvPr id="3" name="Rectangle 2"/>
          <p:cNvSpPr/>
          <p:nvPr/>
        </p:nvSpPr>
        <p:spPr>
          <a:xfrm>
            <a:off x="2328856" y="5980314"/>
            <a:ext cx="1733808" cy="369332"/>
          </a:xfrm>
          <a:prstGeom prst="rect">
            <a:avLst/>
          </a:prstGeom>
        </p:spPr>
        <p:txBody>
          <a:bodyPr wrap="none">
            <a:spAutoFit/>
          </a:bodyPr>
          <a:lstStyle/>
          <a:p>
            <a:r>
              <a:rPr lang="en-IN" dirty="0"/>
              <a:t>Season </a:t>
            </a:r>
            <a:r>
              <a:rPr lang="en-IN" dirty="0" err="1"/>
              <a:t>vs</a:t>
            </a:r>
            <a:r>
              <a:rPr lang="en-IN" dirty="0"/>
              <a:t> Yield</a:t>
            </a:r>
          </a:p>
        </p:txBody>
      </p:sp>
    </p:spTree>
    <p:extLst>
      <p:ext uri="{BB962C8B-B14F-4D97-AF65-F5344CB8AC3E}">
        <p14:creationId xmlns:p14="http://schemas.microsoft.com/office/powerpoint/2010/main" val="103042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 y="1608410"/>
            <a:ext cx="5005864" cy="4556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4504" y="1741225"/>
            <a:ext cx="4934443" cy="4556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276704" y="6383774"/>
            <a:ext cx="2589170" cy="369332"/>
          </a:xfrm>
          <a:prstGeom prst="rect">
            <a:avLst/>
          </a:prstGeom>
        </p:spPr>
        <p:txBody>
          <a:bodyPr wrap="none">
            <a:spAutoFit/>
          </a:bodyPr>
          <a:lstStyle/>
          <a:p>
            <a:r>
              <a:rPr lang="en-IN" dirty="0" smtClean="0"/>
              <a:t> Season </a:t>
            </a:r>
            <a:r>
              <a:rPr lang="en-IN" dirty="0" err="1" smtClean="0"/>
              <a:t>vs</a:t>
            </a:r>
            <a:r>
              <a:rPr lang="en-IN" dirty="0" smtClean="0"/>
              <a:t> Water Usage</a:t>
            </a:r>
            <a:endParaRPr lang="en-IN" dirty="0"/>
          </a:p>
        </p:txBody>
      </p:sp>
      <p:sp>
        <p:nvSpPr>
          <p:cNvPr id="3" name="Rectangle 2"/>
          <p:cNvSpPr/>
          <p:nvPr/>
        </p:nvSpPr>
        <p:spPr>
          <a:xfrm>
            <a:off x="2267902" y="6315489"/>
            <a:ext cx="1821974" cy="369332"/>
          </a:xfrm>
          <a:prstGeom prst="rect">
            <a:avLst/>
          </a:prstGeom>
        </p:spPr>
        <p:txBody>
          <a:bodyPr wrap="none">
            <a:spAutoFit/>
          </a:bodyPr>
          <a:lstStyle/>
          <a:p>
            <a:r>
              <a:rPr lang="en-IN" dirty="0"/>
              <a:t>Rainfall </a:t>
            </a:r>
            <a:r>
              <a:rPr lang="en-IN" dirty="0" err="1"/>
              <a:t>vs</a:t>
            </a:r>
            <a:r>
              <a:rPr lang="en-IN" dirty="0"/>
              <a:t> Yield</a:t>
            </a:r>
          </a:p>
        </p:txBody>
      </p:sp>
    </p:spTree>
    <p:extLst>
      <p:ext uri="{BB962C8B-B14F-4D97-AF65-F5344CB8AC3E}">
        <p14:creationId xmlns:p14="http://schemas.microsoft.com/office/powerpoint/2010/main" val="229738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519" y="1156913"/>
            <a:ext cx="7205095" cy="5143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146773" y="6383774"/>
            <a:ext cx="3304110" cy="369332"/>
          </a:xfrm>
          <a:prstGeom prst="rect">
            <a:avLst/>
          </a:prstGeom>
        </p:spPr>
        <p:txBody>
          <a:bodyPr wrap="none">
            <a:spAutoFit/>
          </a:bodyPr>
          <a:lstStyle/>
          <a:p>
            <a:r>
              <a:rPr lang="en-US" dirty="0"/>
              <a:t>Yield across crops and seasons</a:t>
            </a:r>
          </a:p>
        </p:txBody>
      </p:sp>
    </p:spTree>
    <p:extLst>
      <p:ext uri="{BB962C8B-B14F-4D97-AF65-F5344CB8AC3E}">
        <p14:creationId xmlns:p14="http://schemas.microsoft.com/office/powerpoint/2010/main" val="229738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760" y="1113870"/>
            <a:ext cx="6633653" cy="49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860311" y="6199108"/>
            <a:ext cx="2898550" cy="369332"/>
          </a:xfrm>
          <a:prstGeom prst="rect">
            <a:avLst/>
          </a:prstGeom>
        </p:spPr>
        <p:txBody>
          <a:bodyPr wrap="none">
            <a:spAutoFit/>
          </a:bodyPr>
          <a:lstStyle/>
          <a:p>
            <a:r>
              <a:rPr lang="en-IN" dirty="0"/>
              <a:t> Rainfall, yield and season</a:t>
            </a:r>
          </a:p>
        </p:txBody>
      </p:sp>
    </p:spTree>
    <p:extLst>
      <p:ext uri="{BB962C8B-B14F-4D97-AF65-F5344CB8AC3E}">
        <p14:creationId xmlns:p14="http://schemas.microsoft.com/office/powerpoint/2010/main" val="229738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196" name="Picture 4" descr="C:\Users\pooja\Desktop\downloa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7022" y="1259707"/>
            <a:ext cx="6719061" cy="540525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453258" y="6383774"/>
            <a:ext cx="4626588" cy="369332"/>
          </a:xfrm>
          <a:prstGeom prst="rect">
            <a:avLst/>
          </a:prstGeom>
        </p:spPr>
        <p:txBody>
          <a:bodyPr wrap="none">
            <a:spAutoFit/>
          </a:bodyPr>
          <a:lstStyle/>
          <a:p>
            <a:r>
              <a:rPr lang="en-US" dirty="0"/>
              <a:t> Correlation matrix for numerical variables</a:t>
            </a:r>
          </a:p>
        </p:txBody>
      </p:sp>
    </p:spTree>
    <p:extLst>
      <p:ext uri="{BB962C8B-B14F-4D97-AF65-F5344CB8AC3E}">
        <p14:creationId xmlns:p14="http://schemas.microsoft.com/office/powerpoint/2010/main" val="229738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416" y="1384682"/>
            <a:ext cx="5151058" cy="4272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3546" y="1275371"/>
            <a:ext cx="5223954" cy="4249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66416" y="5758933"/>
            <a:ext cx="3123034" cy="369332"/>
          </a:xfrm>
          <a:prstGeom prst="rect">
            <a:avLst/>
          </a:prstGeom>
        </p:spPr>
        <p:txBody>
          <a:bodyPr wrap="none">
            <a:spAutoFit/>
          </a:bodyPr>
          <a:lstStyle/>
          <a:p>
            <a:r>
              <a:rPr lang="en-IN" dirty="0"/>
              <a:t>Average yield across seasons</a:t>
            </a:r>
          </a:p>
        </p:txBody>
      </p:sp>
      <p:sp>
        <p:nvSpPr>
          <p:cNvPr id="3" name="Rectangle 2"/>
          <p:cNvSpPr/>
          <p:nvPr/>
        </p:nvSpPr>
        <p:spPr>
          <a:xfrm>
            <a:off x="6383546" y="5758933"/>
            <a:ext cx="3204788" cy="369332"/>
          </a:xfrm>
          <a:prstGeom prst="rect">
            <a:avLst/>
          </a:prstGeom>
        </p:spPr>
        <p:txBody>
          <a:bodyPr wrap="none">
            <a:spAutoFit/>
          </a:bodyPr>
          <a:lstStyle/>
          <a:p>
            <a:r>
              <a:rPr lang="en-IN" dirty="0" smtClean="0"/>
              <a:t>Average </a:t>
            </a:r>
            <a:r>
              <a:rPr lang="en-IN" dirty="0"/>
              <a:t>profit across seasons</a:t>
            </a:r>
          </a:p>
        </p:txBody>
      </p:sp>
    </p:spTree>
    <p:extLst>
      <p:ext uri="{BB962C8B-B14F-4D97-AF65-F5344CB8AC3E}">
        <p14:creationId xmlns:p14="http://schemas.microsoft.com/office/powerpoint/2010/main" val="229738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5291" y="1105279"/>
            <a:ext cx="6818672" cy="5662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75957" y="1423744"/>
            <a:ext cx="1911968" cy="400110"/>
          </a:xfrm>
          <a:prstGeom prst="rect">
            <a:avLst/>
          </a:prstGeom>
        </p:spPr>
        <p:txBody>
          <a:bodyPr wrap="square">
            <a:spAutoFit/>
          </a:bodyPr>
          <a:lstStyle/>
          <a:p>
            <a:r>
              <a:rPr lang="en-IN" sz="2000" b="1" dirty="0" smtClean="0"/>
              <a:t>Analysis </a:t>
            </a:r>
            <a:r>
              <a:rPr lang="en-IN" sz="2000" b="1" dirty="0"/>
              <a:t>1</a:t>
            </a:r>
          </a:p>
        </p:txBody>
      </p:sp>
    </p:spTree>
    <p:extLst>
      <p:ext uri="{BB962C8B-B14F-4D97-AF65-F5344CB8AC3E}">
        <p14:creationId xmlns:p14="http://schemas.microsoft.com/office/powerpoint/2010/main" val="229738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675957" y="1275371"/>
            <a:ext cx="1370888" cy="400110"/>
          </a:xfrm>
          <a:prstGeom prst="rect">
            <a:avLst/>
          </a:prstGeom>
        </p:spPr>
        <p:txBody>
          <a:bodyPr wrap="none">
            <a:spAutoFit/>
          </a:bodyPr>
          <a:lstStyle/>
          <a:p>
            <a:r>
              <a:rPr lang="en-IN" sz="2000" b="1" dirty="0" smtClean="0"/>
              <a:t>Analysis </a:t>
            </a:r>
            <a:r>
              <a:rPr lang="en-IN" sz="2000" b="1" dirty="0"/>
              <a:t>2</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1888" y="1337945"/>
            <a:ext cx="7392987"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738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675957" y="1408355"/>
            <a:ext cx="1370888" cy="400110"/>
          </a:xfrm>
          <a:prstGeom prst="rect">
            <a:avLst/>
          </a:prstGeom>
        </p:spPr>
        <p:txBody>
          <a:bodyPr wrap="none">
            <a:spAutoFit/>
          </a:bodyPr>
          <a:lstStyle/>
          <a:p>
            <a:r>
              <a:rPr lang="en-IN" sz="2000" b="1" dirty="0"/>
              <a:t>Analysis </a:t>
            </a:r>
            <a:r>
              <a:rPr lang="en-IN" sz="2000" b="1" dirty="0" smtClean="0"/>
              <a:t>3</a:t>
            </a:r>
            <a:endParaRPr lang="en-IN" sz="2000" b="1"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388" y="1608410"/>
            <a:ext cx="6034969" cy="4900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10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569277" y="323166"/>
            <a:ext cx="4735798" cy="830997"/>
          </a:xfrm>
        </p:spPr>
        <p:txBody>
          <a:bodyPr>
            <a:normAutofit/>
          </a:bodyPr>
          <a:lstStyle/>
          <a:p>
            <a:r>
              <a:rPr lang="en-IN" sz="4000" dirty="0" smtClean="0"/>
              <a:t>Future scope</a:t>
            </a:r>
            <a:endParaRPr lang="en-IN" sz="4000" dirty="0"/>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2"/>
          <p:cNvSpPr>
            <a:spLocks noChangeArrowheads="1"/>
          </p:cNvSpPr>
          <p:nvPr/>
        </p:nvSpPr>
        <p:spPr bwMode="auto">
          <a:xfrm>
            <a:off x="0" y="-3231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 </a:t>
            </a:r>
          </a:p>
        </p:txBody>
      </p:sp>
      <p:sp>
        <p:nvSpPr>
          <p:cNvPr id="6" name="Rectangle 5"/>
          <p:cNvSpPr/>
          <p:nvPr/>
        </p:nvSpPr>
        <p:spPr>
          <a:xfrm>
            <a:off x="569277" y="1307206"/>
            <a:ext cx="8123556" cy="2677656"/>
          </a:xfrm>
          <a:prstGeom prst="rect">
            <a:avLst/>
          </a:prstGeom>
        </p:spPr>
        <p:txBody>
          <a:bodyPr wrap="square">
            <a:spAutoFit/>
          </a:bodyPr>
          <a:lstStyle/>
          <a:p>
            <a:pPr defTabSz="914400" fontAlgn="base">
              <a:lnSpc>
                <a:spcPct val="150000"/>
              </a:lnSpc>
              <a:spcBef>
                <a:spcPct val="0"/>
              </a:spcBef>
              <a:spcAft>
                <a:spcPct val="0"/>
              </a:spcAft>
              <a:buFontTx/>
              <a:buChar char="•"/>
            </a:pPr>
            <a:r>
              <a:rPr lang="en-US" sz="1600" dirty="0">
                <a:solidFill>
                  <a:prstClr val="black"/>
                </a:solidFill>
                <a:latin typeface="Trebuchet MS (Body)"/>
                <a:cs typeface="Arial" charset="0"/>
              </a:rPr>
              <a:t>Using machine learning to predict crop yield and profit. </a:t>
            </a:r>
            <a:endParaRPr lang="en-US" sz="1600" dirty="0" smtClean="0">
              <a:solidFill>
                <a:prstClr val="black"/>
              </a:solidFill>
              <a:latin typeface="Trebuchet MS (Body)"/>
              <a:cs typeface="Arial" charset="0"/>
            </a:endParaRPr>
          </a:p>
          <a:p>
            <a:pPr lvl="0" defTabSz="914400" fontAlgn="base">
              <a:lnSpc>
                <a:spcPct val="150000"/>
              </a:lnSpc>
              <a:spcBef>
                <a:spcPct val="0"/>
              </a:spcBef>
              <a:spcAft>
                <a:spcPct val="0"/>
              </a:spcAft>
              <a:buFontTx/>
              <a:buChar char="•"/>
            </a:pPr>
            <a:r>
              <a:rPr lang="en-US" sz="1600" dirty="0">
                <a:solidFill>
                  <a:prstClr val="black"/>
                </a:solidFill>
                <a:latin typeface="Trebuchet MS (Body)"/>
                <a:cs typeface="Arial" charset="0"/>
              </a:rPr>
              <a:t>Adding real-time weather and market price data. </a:t>
            </a:r>
            <a:endParaRPr lang="en-US" sz="1600" dirty="0" smtClean="0">
              <a:solidFill>
                <a:prstClr val="black"/>
              </a:solidFill>
              <a:latin typeface="Trebuchet MS (Body)"/>
              <a:cs typeface="Arial" charset="0"/>
            </a:endParaRPr>
          </a:p>
          <a:p>
            <a:pPr lvl="0" defTabSz="914400" fontAlgn="base">
              <a:lnSpc>
                <a:spcPct val="150000"/>
              </a:lnSpc>
              <a:spcBef>
                <a:spcPct val="0"/>
              </a:spcBef>
              <a:spcAft>
                <a:spcPct val="0"/>
              </a:spcAft>
              <a:buFontTx/>
              <a:buChar char="•"/>
            </a:pPr>
            <a:r>
              <a:rPr lang="en-US" sz="1600" dirty="0" smtClean="0">
                <a:solidFill>
                  <a:prstClr val="black"/>
                </a:solidFill>
                <a:latin typeface="Trebuchet MS (Body)"/>
                <a:cs typeface="Arial" charset="0"/>
              </a:rPr>
              <a:t>Adding </a:t>
            </a:r>
            <a:r>
              <a:rPr lang="en-US" sz="1600" dirty="0">
                <a:solidFill>
                  <a:prstClr val="black"/>
                </a:solidFill>
                <a:latin typeface="Trebuchet MS (Body)"/>
                <a:cs typeface="Arial" charset="0"/>
              </a:rPr>
              <a:t>more years of agricultural data for better seasonal comparison. </a:t>
            </a:r>
          </a:p>
          <a:p>
            <a:pPr lvl="0" defTabSz="914400" fontAlgn="base">
              <a:lnSpc>
                <a:spcPct val="150000"/>
              </a:lnSpc>
              <a:spcBef>
                <a:spcPct val="0"/>
              </a:spcBef>
              <a:spcAft>
                <a:spcPct val="0"/>
              </a:spcAft>
              <a:buFontTx/>
              <a:buChar char="•"/>
            </a:pPr>
            <a:r>
              <a:rPr lang="en-US" sz="1600" dirty="0">
                <a:solidFill>
                  <a:prstClr val="black"/>
                </a:solidFill>
                <a:latin typeface="Trebuchet MS (Body)"/>
                <a:cs typeface="Arial" charset="0"/>
              </a:rPr>
              <a:t>Including more information about soil, weather, and farming practices. </a:t>
            </a:r>
          </a:p>
          <a:p>
            <a:pPr lvl="0" defTabSz="914400" fontAlgn="base">
              <a:lnSpc>
                <a:spcPct val="150000"/>
              </a:lnSpc>
              <a:spcBef>
                <a:spcPct val="0"/>
              </a:spcBef>
              <a:spcAft>
                <a:spcPct val="0"/>
              </a:spcAft>
              <a:buFontTx/>
              <a:buChar char="•"/>
            </a:pPr>
            <a:r>
              <a:rPr lang="en-US" sz="1600" dirty="0" smtClean="0">
                <a:solidFill>
                  <a:prstClr val="black"/>
                </a:solidFill>
                <a:latin typeface="Trebuchet MS (Body)"/>
                <a:cs typeface="Arial" charset="0"/>
              </a:rPr>
              <a:t>Developing </a:t>
            </a:r>
            <a:r>
              <a:rPr lang="en-US" sz="1600" dirty="0">
                <a:solidFill>
                  <a:prstClr val="black"/>
                </a:solidFill>
                <a:latin typeface="Trebuchet MS (Body)"/>
                <a:cs typeface="Arial" charset="0"/>
              </a:rPr>
              <a:t>a simple dashboard to display the analysis results. </a:t>
            </a:r>
          </a:p>
          <a:p>
            <a:pPr lvl="0" defTabSz="914400" fontAlgn="base">
              <a:lnSpc>
                <a:spcPct val="150000"/>
              </a:lnSpc>
              <a:spcBef>
                <a:spcPct val="0"/>
              </a:spcBef>
              <a:spcAft>
                <a:spcPct val="0"/>
              </a:spcAft>
              <a:buFontTx/>
              <a:buChar char="•"/>
            </a:pPr>
            <a:r>
              <a:rPr lang="en-US" sz="1600" dirty="0" smtClean="0">
                <a:solidFill>
                  <a:prstClr val="black"/>
                </a:solidFill>
                <a:latin typeface="Trebuchet MS (Body)"/>
                <a:cs typeface="Arial" charset="0"/>
              </a:rPr>
              <a:t>Extending </a:t>
            </a:r>
            <a:r>
              <a:rPr lang="en-US" sz="1600" dirty="0">
                <a:solidFill>
                  <a:prstClr val="black"/>
                </a:solidFill>
                <a:latin typeface="Trebuchet MS (Body)"/>
                <a:cs typeface="Arial" charset="0"/>
              </a:rPr>
              <a:t>the analysis to more states, crops, and regions. </a:t>
            </a:r>
          </a:p>
          <a:p>
            <a:pPr lvl="0" defTabSz="914400" fontAlgn="base">
              <a:lnSpc>
                <a:spcPct val="150000"/>
              </a:lnSpc>
              <a:spcBef>
                <a:spcPct val="0"/>
              </a:spcBef>
              <a:spcAft>
                <a:spcPct val="0"/>
              </a:spcAft>
              <a:buFontTx/>
              <a:buChar char="•"/>
            </a:pPr>
            <a:r>
              <a:rPr lang="en-US" sz="1600" dirty="0">
                <a:solidFill>
                  <a:prstClr val="black"/>
                </a:solidFill>
                <a:latin typeface="Trebuchet MS (Body)"/>
                <a:cs typeface="Arial" charset="0"/>
              </a:rPr>
              <a:t>Using the results to provide more detailed recommendations for farmers</a:t>
            </a:r>
            <a:endParaRPr lang="en-IN" sz="1600" dirty="0">
              <a:latin typeface="Trebuchet MS (Body)"/>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2"/>
          <p:cNvSpPr/>
          <p:nvPr/>
        </p:nvSpPr>
        <p:spPr>
          <a:xfrm>
            <a:off x="548636" y="2492377"/>
            <a:ext cx="9625511" cy="954107"/>
          </a:xfrm>
          <a:prstGeom prst="rect">
            <a:avLst/>
          </a:prstGeom>
        </p:spPr>
        <p:txBody>
          <a:bodyPr wrap="square">
            <a:spAutoFit/>
          </a:bodyPr>
          <a:lstStyle/>
          <a:p>
            <a:r>
              <a:rPr lang="en-IN" sz="2800" dirty="0" smtClean="0">
                <a:hlinkClick r:id="rId3"/>
              </a:rPr>
              <a:t>https://github.com/chitukulapooja/Seasonal-Agriculture-Performance-Analysis</a:t>
            </a:r>
            <a:endParaRPr lang="en-IN" sz="28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021" y="1484377"/>
            <a:ext cx="7042005" cy="4987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488852" y="2574348"/>
            <a:ext cx="6112437" cy="1233670"/>
          </a:xfrm>
        </p:spPr>
        <p:txBody>
          <a:bodyPr>
            <a:noAutofit/>
          </a:bodyPr>
          <a:lstStyle/>
          <a:p>
            <a:r>
              <a:rPr lang="en-US" sz="6000" dirty="0">
                <a:solidFill>
                  <a:schemeClr val="tx1"/>
                </a:solidFill>
              </a:rPr>
              <a:t>Thank you</a:t>
            </a:r>
            <a:endParaRPr lang="en-IN" sz="60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624</TotalTime>
  <Words>521</Words>
  <Application>Microsoft Office PowerPoint</Application>
  <PresentationFormat>Custom</PresentationFormat>
  <Paragraphs>74</Paragraphs>
  <Slides>21</Slides>
  <Notes>3</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Facet</vt:lpstr>
      <vt:lpstr>Project Title -  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Pooja Reddy</cp:lastModifiedBy>
  <cp:revision>104</cp:revision>
  <dcterms:created xsi:type="dcterms:W3CDTF">2021-07-11T13:13:15Z</dcterms:created>
  <dcterms:modified xsi:type="dcterms:W3CDTF">2026-09-06T13:08:59Z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